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5156"/>
    <a:srgbClr val="A3A6AB"/>
    <a:srgbClr val="697681"/>
    <a:srgbClr val="829092"/>
    <a:srgbClr val="838383"/>
    <a:srgbClr val="6386A2"/>
    <a:srgbClr val="5B7182"/>
    <a:srgbClr val="49525A"/>
    <a:srgbClr val="38464E"/>
    <a:srgbClr val="00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98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DCD2-E63A-5913-FF9D-C436A43A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02DC2-A68F-A53F-9CF2-0C19C5262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A15B2-F43D-E6D6-C503-8E14B0CA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72EF1-1F90-34C9-5AFB-F055EB2F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7034D-C24B-E94E-64EE-E908778A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56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A4E2-CC28-DC55-6354-7E12D12B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BF87E-8069-97EA-14F4-24F973E34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F6D80-89C7-BB7E-7EE2-47EE92EF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89517-F56D-2C91-A4BB-A4F36AB8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AA24D-3AF1-C812-4331-A801A603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46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47C0-1AC1-3F09-5826-20E794F57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87B05-C631-32E7-D972-7A25D23A3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1A6EB-CA1E-73C0-C6D0-700E91BE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B71B5-B9A8-2797-E30A-DA066774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A4610-AFB3-3B11-A869-D8DD3C03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98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A2F3-7726-B59D-F56D-1BB36430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C0B27-8D4C-9F52-83F7-BC6B1FBDB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1269C-743A-98EC-E4E6-71F6FC197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CA185-7E48-99C1-2CA1-DB6793C2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4E118-9C59-021C-80B0-94AEE519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3954C-19B1-FBB0-163B-DDF7F092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01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BBF1-C8C0-9FE1-C15C-BCF488D4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0E7EA-8C68-7A7D-5ADE-DBD25FE1E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CFE7B-B0F2-2D48-D8EF-51D4CE5FC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F77A8-7619-679F-8E84-87CB5FF03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63D9D-1D4C-CAF5-74D2-60B6A846F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2F5AE-A89B-23C2-812F-2039A588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AFD45-ACAD-9475-5C83-DD41696D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500D2-3CFA-B92F-54FD-7F91FAB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45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F431-DB20-8896-BD9F-0C7D3EF8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9BDFC-B404-BF74-AD5A-FA151B57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84A0A-B853-3E92-D73D-E1A9258C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990E7-E829-2189-1D1C-423450FA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89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47B4B-2C47-0E3E-8729-E1FFEF53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AD68A-FBFE-08D7-0D30-44292C7E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03D6A-C753-7447-B80C-65E9357E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479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83C4-C8EC-3584-4F86-EE9AD8F4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66B1-A6F7-F58A-430E-F39A78AF3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BC7DA-47F1-8D92-7A2D-DF1696082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261FD-0C5D-79F5-5B7A-4E1784A9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9FC68-A8E1-A0C6-0724-47AE4A9E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0F05-D6A1-DDFE-7FC7-062D5C83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21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10625-0F83-7411-8819-404360D6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7DBA5-4CD3-D45D-C988-5C23BE833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BEE71-9AB7-32FC-DC9E-132DC1B7D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BF821-C350-393A-EC54-1E6B2C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14BA8-9B1B-2024-A2E3-82B24716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8EC25-F0AE-4C72-DFFE-14CB3602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04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CD98-CF18-808E-7566-D617183FD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4BFE8-C654-190F-5304-1BF62110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CBF6E-4919-AA19-6751-5A2F8578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3C64-B479-62C1-4E38-0B9DF670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4F0EE-7985-3726-BD89-149A7F1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45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77AF0-FC3F-71C1-AB2F-69626CBF9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9552B-D055-3CB1-8608-A0DF86F7A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627B7-4785-8B9B-A263-3B02AF77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60C4B-7889-2786-D4FA-21D74FF45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F99E8-AD04-722C-2F16-7885AC57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88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7F801-6C7F-96D1-F8AA-C227D475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C21FA-6136-04FD-48E3-90D68AE8D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9AB5-C1C3-1EC0-3BD8-0660D6D5E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5091C-9BC3-4C95-B852-AD650A7E388B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92BA0-0515-C5FD-FD5B-3CCA288A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7F78B-B073-D3AD-E52D-6F82DB256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020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0BFCE9-B177-0F94-7061-748F7776E072}"/>
              </a:ext>
            </a:extLst>
          </p:cNvPr>
          <p:cNvSpPr/>
          <p:nvPr/>
        </p:nvSpPr>
        <p:spPr>
          <a:xfrm>
            <a:off x="687897" y="3007360"/>
            <a:ext cx="9630562" cy="2313592"/>
          </a:xfrm>
          <a:prstGeom prst="rect">
            <a:avLst/>
          </a:prstGeom>
          <a:gradFill>
            <a:gsLst>
              <a:gs pos="7000">
                <a:srgbClr val="CBCFCE"/>
              </a:gs>
              <a:gs pos="6000">
                <a:srgbClr val="A1989B"/>
              </a:gs>
              <a:gs pos="0">
                <a:srgbClr val="9E939B"/>
              </a:gs>
              <a:gs pos="23079">
                <a:srgbClr val="D1D0D5"/>
              </a:gs>
              <a:gs pos="48000">
                <a:srgbClr val="D0CFD4"/>
              </a:gs>
              <a:gs pos="89000">
                <a:srgbClr val="D0D0D0"/>
              </a:gs>
              <a:gs pos="91000">
                <a:srgbClr val="B8B8B8"/>
              </a:gs>
              <a:gs pos="100000">
                <a:srgbClr val="B8B8B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京メトロ8000系8105の側面写真｜RailFile.jp｜鉄道車両サイドビューの図鑑">
            <a:extLst>
              <a:ext uri="{FF2B5EF4-FFF2-40B4-BE49-F238E27FC236}">
                <a16:creationId xmlns:a16="http://schemas.microsoft.com/office/drawing/2014/main" id="{40F3270E-40B2-AF72-8236-C6EC849AA2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34" r="2049" b="21960"/>
          <a:stretch/>
        </p:blipFill>
        <p:spPr bwMode="auto">
          <a:xfrm>
            <a:off x="687897" y="481563"/>
            <a:ext cx="9820363" cy="231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2612A0-2700-62E2-C3AE-02CF1431F4C2}"/>
              </a:ext>
            </a:extLst>
          </p:cNvPr>
          <p:cNvSpPr/>
          <p:nvPr/>
        </p:nvSpPr>
        <p:spPr>
          <a:xfrm>
            <a:off x="8713746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EDB05E-5093-742A-8081-1B69DF8FB80C}"/>
              </a:ext>
            </a:extLst>
          </p:cNvPr>
          <p:cNvSpPr/>
          <p:nvPr/>
        </p:nvSpPr>
        <p:spPr>
          <a:xfrm>
            <a:off x="9101778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8B2C65-00AE-3373-08C2-ECF37257C2B2}"/>
              </a:ext>
            </a:extLst>
          </p:cNvPr>
          <p:cNvSpPr/>
          <p:nvPr/>
        </p:nvSpPr>
        <p:spPr>
          <a:xfrm>
            <a:off x="8779590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389D5A-31E1-9EB6-ECFE-C3703ACB27E4}"/>
              </a:ext>
            </a:extLst>
          </p:cNvPr>
          <p:cNvSpPr/>
          <p:nvPr/>
        </p:nvSpPr>
        <p:spPr>
          <a:xfrm>
            <a:off x="8728723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013E8C-6B56-51E0-9957-5F53C74F8CA2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9035934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909A84-AF15-AD45-B627-47BAAD946438}"/>
              </a:ext>
            </a:extLst>
          </p:cNvPr>
          <p:cNvSpPr/>
          <p:nvPr/>
        </p:nvSpPr>
        <p:spPr>
          <a:xfrm>
            <a:off x="6397266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EB0F83-B17F-6DA5-1699-2239FBF00499}"/>
              </a:ext>
            </a:extLst>
          </p:cNvPr>
          <p:cNvSpPr/>
          <p:nvPr/>
        </p:nvSpPr>
        <p:spPr>
          <a:xfrm>
            <a:off x="6785298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40E741-3B93-15D9-67C7-B70CFF6BF81A}"/>
              </a:ext>
            </a:extLst>
          </p:cNvPr>
          <p:cNvSpPr/>
          <p:nvPr/>
        </p:nvSpPr>
        <p:spPr>
          <a:xfrm>
            <a:off x="6463110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30C0E7-DB4D-9361-4714-4C919CDCFC19}"/>
              </a:ext>
            </a:extLst>
          </p:cNvPr>
          <p:cNvSpPr/>
          <p:nvPr/>
        </p:nvSpPr>
        <p:spPr>
          <a:xfrm>
            <a:off x="6412243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4A9CD8-3557-C98C-51D0-00D997E83BE4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6719454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0F6E5A-96FE-52A8-297C-EF851B133B03}"/>
              </a:ext>
            </a:extLst>
          </p:cNvPr>
          <p:cNvSpPr/>
          <p:nvPr/>
        </p:nvSpPr>
        <p:spPr>
          <a:xfrm>
            <a:off x="4068271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09F6DF-2CE3-5895-F0D1-1CC6E281D647}"/>
              </a:ext>
            </a:extLst>
          </p:cNvPr>
          <p:cNvSpPr/>
          <p:nvPr/>
        </p:nvSpPr>
        <p:spPr>
          <a:xfrm>
            <a:off x="4456303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8990C9-0CF4-45B4-EF37-442D98DB0B97}"/>
              </a:ext>
            </a:extLst>
          </p:cNvPr>
          <p:cNvSpPr/>
          <p:nvPr/>
        </p:nvSpPr>
        <p:spPr>
          <a:xfrm>
            <a:off x="4134115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6FCA43-8DB2-8BF2-9125-D9E27D6C735A}"/>
              </a:ext>
            </a:extLst>
          </p:cNvPr>
          <p:cNvSpPr/>
          <p:nvPr/>
        </p:nvSpPr>
        <p:spPr>
          <a:xfrm>
            <a:off x="4083248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0A24D0-E74A-B93D-EAC7-AA64157E8162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390459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C790F7-255A-B9A8-DBFA-B2EB18CBBB6A}"/>
              </a:ext>
            </a:extLst>
          </p:cNvPr>
          <p:cNvSpPr/>
          <p:nvPr/>
        </p:nvSpPr>
        <p:spPr>
          <a:xfrm>
            <a:off x="1807697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C26338-8C6E-C905-A342-BB983D4BF831}"/>
              </a:ext>
            </a:extLst>
          </p:cNvPr>
          <p:cNvSpPr/>
          <p:nvPr/>
        </p:nvSpPr>
        <p:spPr>
          <a:xfrm>
            <a:off x="2195729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6B4A8A0-C375-9997-1F9D-48101F90DD9D}"/>
              </a:ext>
            </a:extLst>
          </p:cNvPr>
          <p:cNvSpPr/>
          <p:nvPr/>
        </p:nvSpPr>
        <p:spPr>
          <a:xfrm>
            <a:off x="1873541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4AB12F-450C-C4B6-FAD2-A3A122DE90BD}"/>
              </a:ext>
            </a:extLst>
          </p:cNvPr>
          <p:cNvSpPr/>
          <p:nvPr/>
        </p:nvSpPr>
        <p:spPr>
          <a:xfrm>
            <a:off x="1822674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95D996-DC59-3632-97EB-FE9689BC5092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2129885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営団8000系電車 - Wikipedia">
            <a:extLst>
              <a:ext uri="{FF2B5EF4-FFF2-40B4-BE49-F238E27FC236}">
                <a16:creationId xmlns:a16="http://schemas.microsoft.com/office/drawing/2014/main" id="{EEAEA493-912D-ADC8-FE63-95F0EB199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19" t="58018" r="15453" b="38107"/>
          <a:stretch/>
        </p:blipFill>
        <p:spPr bwMode="auto">
          <a:xfrm>
            <a:off x="10328402" y="648699"/>
            <a:ext cx="1381328" cy="2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81C0C62-0A9F-BFB3-D5BE-D1EA9992C408}"/>
              </a:ext>
            </a:extLst>
          </p:cNvPr>
          <p:cNvSpPr/>
          <p:nvPr/>
        </p:nvSpPr>
        <p:spPr>
          <a:xfrm>
            <a:off x="9386716" y="4401193"/>
            <a:ext cx="931743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28AC36-627C-DD67-25E3-6C490483231E}"/>
              </a:ext>
            </a:extLst>
          </p:cNvPr>
          <p:cNvSpPr/>
          <p:nvPr/>
        </p:nvSpPr>
        <p:spPr>
          <a:xfrm>
            <a:off x="7070236" y="4401193"/>
            <a:ext cx="1612195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6C73D3-2623-E4EE-E580-E77E63E5FB70}"/>
              </a:ext>
            </a:extLst>
          </p:cNvPr>
          <p:cNvSpPr/>
          <p:nvPr/>
        </p:nvSpPr>
        <p:spPr>
          <a:xfrm>
            <a:off x="4741242" y="4401193"/>
            <a:ext cx="1627204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865AEF-ACAB-6E27-E4F4-E8F36CD85435}"/>
              </a:ext>
            </a:extLst>
          </p:cNvPr>
          <p:cNvSpPr/>
          <p:nvPr/>
        </p:nvSpPr>
        <p:spPr>
          <a:xfrm>
            <a:off x="2490604" y="4411443"/>
            <a:ext cx="1547743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93B0BC-53EA-4F22-ED0C-B9C935F857D5}"/>
              </a:ext>
            </a:extLst>
          </p:cNvPr>
          <p:cNvSpPr/>
          <p:nvPr/>
        </p:nvSpPr>
        <p:spPr>
          <a:xfrm>
            <a:off x="880110" y="4411443"/>
            <a:ext cx="900096" cy="184314"/>
          </a:xfrm>
          <a:custGeom>
            <a:avLst/>
            <a:gdLst>
              <a:gd name="connsiteX0" fmla="*/ 0 w 900096"/>
              <a:gd name="connsiteY0" fmla="*/ 0 h 184314"/>
              <a:gd name="connsiteX1" fmla="*/ 900096 w 900096"/>
              <a:gd name="connsiteY1" fmla="*/ 0 h 184314"/>
              <a:gd name="connsiteX2" fmla="*/ 900096 w 900096"/>
              <a:gd name="connsiteY2" fmla="*/ 184314 h 184314"/>
              <a:gd name="connsiteX3" fmla="*/ 0 w 900096"/>
              <a:gd name="connsiteY3" fmla="*/ 184314 h 184314"/>
              <a:gd name="connsiteX4" fmla="*/ 0 w 900096"/>
              <a:gd name="connsiteY4" fmla="*/ 0 h 184314"/>
              <a:gd name="connsiteX0" fmla="*/ 38100 w 900096"/>
              <a:gd name="connsiteY0" fmla="*/ 1905 h 184314"/>
              <a:gd name="connsiteX1" fmla="*/ 900096 w 900096"/>
              <a:gd name="connsiteY1" fmla="*/ 0 h 184314"/>
              <a:gd name="connsiteX2" fmla="*/ 900096 w 900096"/>
              <a:gd name="connsiteY2" fmla="*/ 184314 h 184314"/>
              <a:gd name="connsiteX3" fmla="*/ 0 w 900096"/>
              <a:gd name="connsiteY3" fmla="*/ 184314 h 184314"/>
              <a:gd name="connsiteX4" fmla="*/ 38100 w 900096"/>
              <a:gd name="connsiteY4" fmla="*/ 1905 h 184314"/>
              <a:gd name="connsiteX0" fmla="*/ 20955 w 900096"/>
              <a:gd name="connsiteY0" fmla="*/ 3810 h 184314"/>
              <a:gd name="connsiteX1" fmla="*/ 900096 w 900096"/>
              <a:gd name="connsiteY1" fmla="*/ 0 h 184314"/>
              <a:gd name="connsiteX2" fmla="*/ 900096 w 900096"/>
              <a:gd name="connsiteY2" fmla="*/ 184314 h 184314"/>
              <a:gd name="connsiteX3" fmla="*/ 0 w 900096"/>
              <a:gd name="connsiteY3" fmla="*/ 184314 h 184314"/>
              <a:gd name="connsiteX4" fmla="*/ 20955 w 900096"/>
              <a:gd name="connsiteY4" fmla="*/ 3810 h 184314"/>
              <a:gd name="connsiteX0" fmla="*/ 26670 w 900096"/>
              <a:gd name="connsiteY0" fmla="*/ 5715 h 184314"/>
              <a:gd name="connsiteX1" fmla="*/ 900096 w 900096"/>
              <a:gd name="connsiteY1" fmla="*/ 0 h 184314"/>
              <a:gd name="connsiteX2" fmla="*/ 900096 w 900096"/>
              <a:gd name="connsiteY2" fmla="*/ 184314 h 184314"/>
              <a:gd name="connsiteX3" fmla="*/ 0 w 900096"/>
              <a:gd name="connsiteY3" fmla="*/ 184314 h 184314"/>
              <a:gd name="connsiteX4" fmla="*/ 26670 w 900096"/>
              <a:gd name="connsiteY4" fmla="*/ 5715 h 184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96" h="184314">
                <a:moveTo>
                  <a:pt x="26670" y="5715"/>
                </a:moveTo>
                <a:lnTo>
                  <a:pt x="900096" y="0"/>
                </a:lnTo>
                <a:lnTo>
                  <a:pt x="900096" y="184314"/>
                </a:lnTo>
                <a:lnTo>
                  <a:pt x="0" y="184314"/>
                </a:lnTo>
                <a:lnTo>
                  <a:pt x="26670" y="5715"/>
                </a:lnTo>
                <a:close/>
              </a:path>
            </a:pathLst>
          </a:cu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4DECEA4-5720-3DCF-23C9-7142254EA50B}"/>
              </a:ext>
            </a:extLst>
          </p:cNvPr>
          <p:cNvSpPr/>
          <p:nvPr/>
        </p:nvSpPr>
        <p:spPr>
          <a:xfrm>
            <a:off x="2773228" y="3486069"/>
            <a:ext cx="982494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BDC56EB-B8D8-F37B-CF5D-7C513EC346E6}"/>
              </a:ext>
            </a:extLst>
          </p:cNvPr>
          <p:cNvSpPr/>
          <p:nvPr/>
        </p:nvSpPr>
        <p:spPr>
          <a:xfrm>
            <a:off x="5091411" y="3486068"/>
            <a:ext cx="982494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7CBA680-FFF9-37B6-A62B-84053E1FFD0D}"/>
              </a:ext>
            </a:extLst>
          </p:cNvPr>
          <p:cNvSpPr/>
          <p:nvPr/>
        </p:nvSpPr>
        <p:spPr>
          <a:xfrm>
            <a:off x="7415366" y="3486067"/>
            <a:ext cx="982494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62D9F8-AB18-8702-881F-B0EB233EA41B}"/>
              </a:ext>
            </a:extLst>
          </p:cNvPr>
          <p:cNvSpPr/>
          <p:nvPr/>
        </p:nvSpPr>
        <p:spPr>
          <a:xfrm>
            <a:off x="9747114" y="3480394"/>
            <a:ext cx="493411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AFA571-0005-5FBA-C865-E11F347FF988}"/>
              </a:ext>
            </a:extLst>
          </p:cNvPr>
          <p:cNvSpPr/>
          <p:nvPr/>
        </p:nvSpPr>
        <p:spPr>
          <a:xfrm>
            <a:off x="7889321" y="3486067"/>
            <a:ext cx="45719" cy="821178"/>
          </a:xfrm>
          <a:prstGeom prst="rect">
            <a:avLst/>
          </a:prstGeom>
          <a:solidFill>
            <a:srgbClr val="DFDF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D6CD88-C81B-7CA2-8132-0EE5147DA4C7}"/>
              </a:ext>
            </a:extLst>
          </p:cNvPr>
          <p:cNvSpPr/>
          <p:nvPr/>
        </p:nvSpPr>
        <p:spPr>
          <a:xfrm>
            <a:off x="5552277" y="3486067"/>
            <a:ext cx="45719" cy="821178"/>
          </a:xfrm>
          <a:prstGeom prst="rect">
            <a:avLst/>
          </a:prstGeom>
          <a:solidFill>
            <a:srgbClr val="DFDF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D6B1DC-09CE-7B4D-1DD3-595DAA8453FF}"/>
              </a:ext>
            </a:extLst>
          </p:cNvPr>
          <p:cNvSpPr/>
          <p:nvPr/>
        </p:nvSpPr>
        <p:spPr>
          <a:xfrm>
            <a:off x="3237312" y="3499079"/>
            <a:ext cx="45719" cy="821178"/>
          </a:xfrm>
          <a:prstGeom prst="rect">
            <a:avLst/>
          </a:prstGeom>
          <a:solidFill>
            <a:srgbClr val="DFDF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3BE1D5-5E38-6C59-07CD-022D9909BCC5}"/>
              </a:ext>
            </a:extLst>
          </p:cNvPr>
          <p:cNvSpPr/>
          <p:nvPr/>
        </p:nvSpPr>
        <p:spPr>
          <a:xfrm>
            <a:off x="1199636" y="3370744"/>
            <a:ext cx="230418" cy="161349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254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7F290C-1201-A0B6-A5F1-E388EBAAEF37}"/>
              </a:ext>
            </a:extLst>
          </p:cNvPr>
          <p:cNvSpPr/>
          <p:nvPr/>
        </p:nvSpPr>
        <p:spPr>
          <a:xfrm>
            <a:off x="1214842" y="4413348"/>
            <a:ext cx="193220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EBF060D-F080-DEA5-4461-649280DFDF03}"/>
              </a:ext>
            </a:extLst>
          </p:cNvPr>
          <p:cNvSpPr/>
          <p:nvPr/>
        </p:nvSpPr>
        <p:spPr>
          <a:xfrm>
            <a:off x="1249383" y="3570745"/>
            <a:ext cx="138247" cy="640698"/>
          </a:xfrm>
          <a:prstGeom prst="roundRect">
            <a:avLst>
              <a:gd name="adj" fmla="val 0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四角形: 角を丸くする 1032">
            <a:extLst>
              <a:ext uri="{FF2B5EF4-FFF2-40B4-BE49-F238E27FC236}">
                <a16:creationId xmlns:a16="http://schemas.microsoft.com/office/drawing/2014/main" id="{88CD997E-B8E4-E0EC-8630-85A0DFE01E5E}"/>
              </a:ext>
            </a:extLst>
          </p:cNvPr>
          <p:cNvSpPr/>
          <p:nvPr/>
        </p:nvSpPr>
        <p:spPr>
          <a:xfrm>
            <a:off x="1488324" y="3315629"/>
            <a:ext cx="127315" cy="227671"/>
          </a:xfrm>
          <a:prstGeom prst="roundRect">
            <a:avLst>
              <a:gd name="adj" fmla="val 15171"/>
            </a:avLst>
          </a:prstGeom>
          <a:gradFill>
            <a:gsLst>
              <a:gs pos="43178">
                <a:srgbClr val="27C0DB"/>
              </a:gs>
              <a:gs pos="83000">
                <a:srgbClr val="28C0DD"/>
              </a:gs>
              <a:gs pos="100000">
                <a:srgbClr val="26C9E4"/>
              </a:gs>
              <a:gs pos="11520">
                <a:srgbClr val="3CBDD7"/>
              </a:gs>
              <a:gs pos="0">
                <a:srgbClr val="3CBDD7"/>
              </a:gs>
            </a:gsLst>
            <a:lin ang="0" scaled="0"/>
          </a:gradFill>
          <a:ln>
            <a:noFill/>
          </a:ln>
          <a:effectLst>
            <a:glow rad="12700">
              <a:srgbClr val="26C9E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49" name="四角形: 角を丸くする 1033">
            <a:extLst>
              <a:ext uri="{FF2B5EF4-FFF2-40B4-BE49-F238E27FC236}">
                <a16:creationId xmlns:a16="http://schemas.microsoft.com/office/drawing/2014/main" id="{E04ACFD3-E927-6DC6-C372-AEE135A39C40}"/>
              </a:ext>
            </a:extLst>
          </p:cNvPr>
          <p:cNvSpPr/>
          <p:nvPr/>
        </p:nvSpPr>
        <p:spPr>
          <a:xfrm>
            <a:off x="1625997" y="3315629"/>
            <a:ext cx="127315" cy="227671"/>
          </a:xfrm>
          <a:prstGeom prst="roundRect">
            <a:avLst>
              <a:gd name="adj" fmla="val 13674"/>
            </a:avLst>
          </a:prstGeom>
          <a:gradFill>
            <a:gsLst>
              <a:gs pos="43178">
                <a:srgbClr val="154B83"/>
              </a:gs>
              <a:gs pos="83000">
                <a:srgbClr val="155086"/>
              </a:gs>
              <a:gs pos="100000">
                <a:srgbClr val="255288"/>
              </a:gs>
              <a:gs pos="11520">
                <a:srgbClr val="134F86"/>
              </a:gs>
              <a:gs pos="0">
                <a:srgbClr val="124681"/>
              </a:gs>
            </a:gsLst>
            <a:lin ang="0" scaled="0"/>
          </a:gradFill>
          <a:ln>
            <a:noFill/>
          </a:ln>
          <a:effectLst>
            <a:glow rad="12700">
              <a:srgbClr val="134D88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0" name="四角形: 角を丸くする 1032">
            <a:extLst>
              <a:ext uri="{FF2B5EF4-FFF2-40B4-BE49-F238E27FC236}">
                <a16:creationId xmlns:a16="http://schemas.microsoft.com/office/drawing/2014/main" id="{C6BB65D4-C79C-AE36-D976-572AB6E634FB}"/>
              </a:ext>
            </a:extLst>
          </p:cNvPr>
          <p:cNvSpPr/>
          <p:nvPr/>
        </p:nvSpPr>
        <p:spPr>
          <a:xfrm>
            <a:off x="3173654" y="3201793"/>
            <a:ext cx="127315" cy="227671"/>
          </a:xfrm>
          <a:prstGeom prst="roundRect">
            <a:avLst>
              <a:gd name="adj" fmla="val 15171"/>
            </a:avLst>
          </a:prstGeom>
          <a:gradFill>
            <a:gsLst>
              <a:gs pos="43178">
                <a:srgbClr val="27C0DB"/>
              </a:gs>
              <a:gs pos="83000">
                <a:srgbClr val="28C0DD"/>
              </a:gs>
              <a:gs pos="100000">
                <a:srgbClr val="26C9E4"/>
              </a:gs>
              <a:gs pos="11520">
                <a:srgbClr val="3CBDD7"/>
              </a:gs>
              <a:gs pos="0">
                <a:srgbClr val="3CBDD7"/>
              </a:gs>
            </a:gsLst>
            <a:lin ang="0" scaled="0"/>
          </a:gradFill>
          <a:ln>
            <a:noFill/>
          </a:ln>
          <a:effectLst>
            <a:glow rad="12700">
              <a:srgbClr val="26C9E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1" name="四角形: 角を丸くする 76">
            <a:extLst>
              <a:ext uri="{FF2B5EF4-FFF2-40B4-BE49-F238E27FC236}">
                <a16:creationId xmlns:a16="http://schemas.microsoft.com/office/drawing/2014/main" id="{E7794072-49C6-8517-9433-D540366FADB1}"/>
              </a:ext>
            </a:extLst>
          </p:cNvPr>
          <p:cNvSpPr/>
          <p:nvPr/>
        </p:nvSpPr>
        <p:spPr>
          <a:xfrm>
            <a:off x="7820348" y="3238627"/>
            <a:ext cx="315471" cy="154001"/>
          </a:xfrm>
          <a:prstGeom prst="roundRect">
            <a:avLst>
              <a:gd name="adj" fmla="val 15124"/>
            </a:avLst>
          </a:prstGeom>
          <a:solidFill>
            <a:schemeClr val="tx1">
              <a:lumMod val="85000"/>
              <a:lumOff val="1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2" name="角丸四角形 62">
            <a:extLst>
              <a:ext uri="{FF2B5EF4-FFF2-40B4-BE49-F238E27FC236}">
                <a16:creationId xmlns:a16="http://schemas.microsoft.com/office/drawing/2014/main" id="{F895AF61-FDC1-3F4B-2298-B329492E60B7}"/>
              </a:ext>
            </a:extLst>
          </p:cNvPr>
          <p:cNvSpPr/>
          <p:nvPr/>
        </p:nvSpPr>
        <p:spPr>
          <a:xfrm>
            <a:off x="5566126" y="3188950"/>
            <a:ext cx="60970" cy="84913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3" name="円/楕円 63">
            <a:extLst>
              <a:ext uri="{FF2B5EF4-FFF2-40B4-BE49-F238E27FC236}">
                <a16:creationId xmlns:a16="http://schemas.microsoft.com/office/drawing/2014/main" id="{2A2EB2E5-1260-471A-6327-95D11A3141B2}"/>
              </a:ext>
            </a:extLst>
          </p:cNvPr>
          <p:cNvSpPr/>
          <p:nvPr/>
        </p:nvSpPr>
        <p:spPr>
          <a:xfrm>
            <a:off x="5575136" y="3313008"/>
            <a:ext cx="45718" cy="62131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</p:spTree>
    <p:extLst>
      <p:ext uri="{BB962C8B-B14F-4D97-AF65-F5344CB8AC3E}">
        <p14:creationId xmlns:p14="http://schemas.microsoft.com/office/powerpoint/2010/main" val="268310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A4C1-1C64-0598-07E7-46F28187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C0F1F7-E948-80E0-36D9-127D31E160C9}"/>
              </a:ext>
            </a:extLst>
          </p:cNvPr>
          <p:cNvSpPr/>
          <p:nvPr/>
        </p:nvSpPr>
        <p:spPr>
          <a:xfrm>
            <a:off x="802639" y="3007360"/>
            <a:ext cx="9515819" cy="2313592"/>
          </a:xfrm>
          <a:prstGeom prst="rect">
            <a:avLst/>
          </a:prstGeom>
          <a:gradFill>
            <a:gsLst>
              <a:gs pos="7000">
                <a:srgbClr val="CBCFCE"/>
              </a:gs>
              <a:gs pos="6000">
                <a:srgbClr val="A1989B"/>
              </a:gs>
              <a:gs pos="0">
                <a:srgbClr val="9E939B"/>
              </a:gs>
              <a:gs pos="23079">
                <a:srgbClr val="D1D0D5"/>
              </a:gs>
              <a:gs pos="48000">
                <a:srgbClr val="D0CFD4"/>
              </a:gs>
              <a:gs pos="89000">
                <a:srgbClr val="D0D0D0"/>
              </a:gs>
              <a:gs pos="91000">
                <a:srgbClr val="B8B8B8"/>
              </a:gs>
              <a:gs pos="100000">
                <a:srgbClr val="B8B8B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京メトロ8000系8105の側面写真｜RailFile.jp｜鉄道車両サイドビューの図鑑">
            <a:extLst>
              <a:ext uri="{FF2B5EF4-FFF2-40B4-BE49-F238E27FC236}">
                <a16:creationId xmlns:a16="http://schemas.microsoft.com/office/drawing/2014/main" id="{DD41441C-CD16-7C2D-DFED-5F800773A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34" r="2049" b="21960"/>
          <a:stretch/>
        </p:blipFill>
        <p:spPr bwMode="auto">
          <a:xfrm>
            <a:off x="687897" y="481563"/>
            <a:ext cx="9820363" cy="231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3C7DCC-5930-ED44-8A4D-551E63FD7282}"/>
              </a:ext>
            </a:extLst>
          </p:cNvPr>
          <p:cNvSpPr/>
          <p:nvPr/>
        </p:nvSpPr>
        <p:spPr>
          <a:xfrm>
            <a:off x="8713746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02D5E2-0526-24C6-516A-4342AB82224E}"/>
              </a:ext>
            </a:extLst>
          </p:cNvPr>
          <p:cNvSpPr/>
          <p:nvPr/>
        </p:nvSpPr>
        <p:spPr>
          <a:xfrm>
            <a:off x="9101778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CFB60C-079C-1A78-59CC-3B030C31FE74}"/>
              </a:ext>
            </a:extLst>
          </p:cNvPr>
          <p:cNvSpPr/>
          <p:nvPr/>
        </p:nvSpPr>
        <p:spPr>
          <a:xfrm>
            <a:off x="8779590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1B513C-9528-D71B-06F6-1124FAF53C5D}"/>
              </a:ext>
            </a:extLst>
          </p:cNvPr>
          <p:cNvSpPr/>
          <p:nvPr/>
        </p:nvSpPr>
        <p:spPr>
          <a:xfrm>
            <a:off x="8728723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360BED-EA6B-0B8D-52E6-9D476613ED24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9035934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556AEA-9FB6-E313-1785-4D7CA488BC2D}"/>
              </a:ext>
            </a:extLst>
          </p:cNvPr>
          <p:cNvSpPr/>
          <p:nvPr/>
        </p:nvSpPr>
        <p:spPr>
          <a:xfrm>
            <a:off x="6397266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893D85-7FBC-4A1A-AF5D-E8A9A7DB5D6E}"/>
              </a:ext>
            </a:extLst>
          </p:cNvPr>
          <p:cNvSpPr/>
          <p:nvPr/>
        </p:nvSpPr>
        <p:spPr>
          <a:xfrm>
            <a:off x="6785298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B98D0BB-C762-A6CA-356D-4C0790C939C9}"/>
              </a:ext>
            </a:extLst>
          </p:cNvPr>
          <p:cNvSpPr/>
          <p:nvPr/>
        </p:nvSpPr>
        <p:spPr>
          <a:xfrm>
            <a:off x="6463110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8E99CD-3A5F-3C1F-683D-358569C9F39B}"/>
              </a:ext>
            </a:extLst>
          </p:cNvPr>
          <p:cNvSpPr/>
          <p:nvPr/>
        </p:nvSpPr>
        <p:spPr>
          <a:xfrm>
            <a:off x="6412243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F68A21-0059-0A19-7E66-634C52A570FF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6719454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C7C7E8-0999-7ADC-EC05-E2E94E955C8D}"/>
              </a:ext>
            </a:extLst>
          </p:cNvPr>
          <p:cNvSpPr/>
          <p:nvPr/>
        </p:nvSpPr>
        <p:spPr>
          <a:xfrm>
            <a:off x="4068271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B08E74-E91C-155C-6230-7B49E215EDF3}"/>
              </a:ext>
            </a:extLst>
          </p:cNvPr>
          <p:cNvSpPr/>
          <p:nvPr/>
        </p:nvSpPr>
        <p:spPr>
          <a:xfrm>
            <a:off x="4456303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C442861-F8AD-B42C-1F40-32E445A9D671}"/>
              </a:ext>
            </a:extLst>
          </p:cNvPr>
          <p:cNvSpPr/>
          <p:nvPr/>
        </p:nvSpPr>
        <p:spPr>
          <a:xfrm>
            <a:off x="4134115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B66799-1E97-A229-261F-5A3B2ADD1AD1}"/>
              </a:ext>
            </a:extLst>
          </p:cNvPr>
          <p:cNvSpPr/>
          <p:nvPr/>
        </p:nvSpPr>
        <p:spPr>
          <a:xfrm>
            <a:off x="4083248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E9A80F-3B87-2B8B-9C01-BD446C4DC5CE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390459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67AB151-E60F-198D-0B33-F25D0163A940}"/>
              </a:ext>
            </a:extLst>
          </p:cNvPr>
          <p:cNvSpPr/>
          <p:nvPr/>
        </p:nvSpPr>
        <p:spPr>
          <a:xfrm>
            <a:off x="1807697" y="3344074"/>
            <a:ext cx="644376" cy="1640164"/>
          </a:xfrm>
          <a:prstGeom prst="roundRect">
            <a:avLst>
              <a:gd name="adj" fmla="val 5433"/>
            </a:avLst>
          </a:prstGeom>
          <a:gradFill>
            <a:gsLst>
              <a:gs pos="0">
                <a:srgbClr val="D2D5DB"/>
              </a:gs>
              <a:gs pos="31000">
                <a:srgbClr val="D8DBE2"/>
              </a:gs>
              <a:gs pos="100000">
                <a:srgbClr val="DBDEE5"/>
              </a:gs>
            </a:gsLst>
            <a:lin ang="5400000" scaled="1"/>
          </a:gradFill>
          <a:ln w="50800">
            <a:gradFill>
              <a:gsLst>
                <a:gs pos="0">
                  <a:srgbClr val="E7EBEE"/>
                </a:gs>
                <a:gs pos="85000">
                  <a:srgbClr val="E2DDDE"/>
                </a:gs>
                <a:gs pos="100000">
                  <a:srgbClr val="B5B8BF"/>
                </a:gs>
              </a:gsLst>
              <a:lin ang="5400000" scaled="1"/>
            </a:gradFill>
          </a:ln>
          <a:effectLst>
            <a:innerShdw blurRad="63500" dist="50800" dir="162000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6A3ECA5-C3F8-8FAA-B15E-870C5402DCE3}"/>
              </a:ext>
            </a:extLst>
          </p:cNvPr>
          <p:cNvSpPr/>
          <p:nvPr/>
        </p:nvSpPr>
        <p:spPr>
          <a:xfrm>
            <a:off x="2195729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29DBB72-74C9-0498-47F2-4862156AD247}"/>
              </a:ext>
            </a:extLst>
          </p:cNvPr>
          <p:cNvSpPr/>
          <p:nvPr/>
        </p:nvSpPr>
        <p:spPr>
          <a:xfrm>
            <a:off x="1873541" y="3474720"/>
            <a:ext cx="190500" cy="838200"/>
          </a:xfrm>
          <a:prstGeom prst="roundRect">
            <a:avLst>
              <a:gd name="adj" fmla="val 30001"/>
            </a:avLst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96D363-5201-B8DC-4645-7425179C7D45}"/>
              </a:ext>
            </a:extLst>
          </p:cNvPr>
          <p:cNvSpPr/>
          <p:nvPr/>
        </p:nvSpPr>
        <p:spPr>
          <a:xfrm>
            <a:off x="1822674" y="4407289"/>
            <a:ext cx="610046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5235CBB-D1B4-0C98-F14E-2424080038A1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2129885" y="3370744"/>
            <a:ext cx="0" cy="16134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営団8000系電車 - Wikipedia">
            <a:extLst>
              <a:ext uri="{FF2B5EF4-FFF2-40B4-BE49-F238E27FC236}">
                <a16:creationId xmlns:a16="http://schemas.microsoft.com/office/drawing/2014/main" id="{E9CE269F-F912-D23A-C7BE-414FBF7131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19" t="58018" r="15453" b="38107"/>
          <a:stretch/>
        </p:blipFill>
        <p:spPr bwMode="auto">
          <a:xfrm>
            <a:off x="10328402" y="648699"/>
            <a:ext cx="1381328" cy="2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3B7F18A-F770-8CBB-2350-891283418EB0}"/>
              </a:ext>
            </a:extLst>
          </p:cNvPr>
          <p:cNvSpPr/>
          <p:nvPr/>
        </p:nvSpPr>
        <p:spPr>
          <a:xfrm>
            <a:off x="9386716" y="4401193"/>
            <a:ext cx="931743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0F0758-BE6E-7C27-501B-A1EE14C5064B}"/>
              </a:ext>
            </a:extLst>
          </p:cNvPr>
          <p:cNvSpPr/>
          <p:nvPr/>
        </p:nvSpPr>
        <p:spPr>
          <a:xfrm>
            <a:off x="7070236" y="4401193"/>
            <a:ext cx="1612195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7D42C4-5848-33AE-9EE0-CD0A9592A9F3}"/>
              </a:ext>
            </a:extLst>
          </p:cNvPr>
          <p:cNvSpPr/>
          <p:nvPr/>
        </p:nvSpPr>
        <p:spPr>
          <a:xfrm>
            <a:off x="4741242" y="4401193"/>
            <a:ext cx="1627204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932F81-BA37-EFD1-3C5B-030F6AEB5A35}"/>
              </a:ext>
            </a:extLst>
          </p:cNvPr>
          <p:cNvSpPr/>
          <p:nvPr/>
        </p:nvSpPr>
        <p:spPr>
          <a:xfrm>
            <a:off x="2490604" y="4411443"/>
            <a:ext cx="1547743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CB74E03-1C43-7079-A4C4-22F0E32E9ACB}"/>
              </a:ext>
            </a:extLst>
          </p:cNvPr>
          <p:cNvSpPr/>
          <p:nvPr/>
        </p:nvSpPr>
        <p:spPr>
          <a:xfrm>
            <a:off x="2773228" y="3486069"/>
            <a:ext cx="982494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E4EEAD0-0BD6-9FAC-FCFB-702B370710F6}"/>
              </a:ext>
            </a:extLst>
          </p:cNvPr>
          <p:cNvSpPr/>
          <p:nvPr/>
        </p:nvSpPr>
        <p:spPr>
          <a:xfrm>
            <a:off x="5091411" y="3486068"/>
            <a:ext cx="982494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86EA57-CA43-DB1B-A2F2-394BF56C6341}"/>
              </a:ext>
            </a:extLst>
          </p:cNvPr>
          <p:cNvSpPr/>
          <p:nvPr/>
        </p:nvSpPr>
        <p:spPr>
          <a:xfrm>
            <a:off x="7415366" y="3486067"/>
            <a:ext cx="982494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B75F8FD-21C8-A2C1-DF53-DA41492673BF}"/>
              </a:ext>
            </a:extLst>
          </p:cNvPr>
          <p:cNvSpPr/>
          <p:nvPr/>
        </p:nvSpPr>
        <p:spPr>
          <a:xfrm>
            <a:off x="9747114" y="3480394"/>
            <a:ext cx="493411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7FD793-4C8B-A99E-49D1-980B8424AA1E}"/>
              </a:ext>
            </a:extLst>
          </p:cNvPr>
          <p:cNvSpPr/>
          <p:nvPr/>
        </p:nvSpPr>
        <p:spPr>
          <a:xfrm>
            <a:off x="7889321" y="3486067"/>
            <a:ext cx="45719" cy="821178"/>
          </a:xfrm>
          <a:prstGeom prst="rect">
            <a:avLst/>
          </a:prstGeom>
          <a:solidFill>
            <a:srgbClr val="DFDF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BE7979-78A8-7BEC-C3DE-5DC534E0CD7D}"/>
              </a:ext>
            </a:extLst>
          </p:cNvPr>
          <p:cNvSpPr/>
          <p:nvPr/>
        </p:nvSpPr>
        <p:spPr>
          <a:xfrm>
            <a:off x="5552277" y="3486067"/>
            <a:ext cx="45719" cy="821178"/>
          </a:xfrm>
          <a:prstGeom prst="rect">
            <a:avLst/>
          </a:prstGeom>
          <a:solidFill>
            <a:srgbClr val="DFDF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6B018E-E0C4-3999-C071-A7368359B80A}"/>
              </a:ext>
            </a:extLst>
          </p:cNvPr>
          <p:cNvSpPr/>
          <p:nvPr/>
        </p:nvSpPr>
        <p:spPr>
          <a:xfrm>
            <a:off x="3237312" y="3499079"/>
            <a:ext cx="45719" cy="821178"/>
          </a:xfrm>
          <a:prstGeom prst="rect">
            <a:avLst/>
          </a:prstGeom>
          <a:solidFill>
            <a:srgbClr val="DFDF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四角形: 角を丸くする 1032">
            <a:extLst>
              <a:ext uri="{FF2B5EF4-FFF2-40B4-BE49-F238E27FC236}">
                <a16:creationId xmlns:a16="http://schemas.microsoft.com/office/drawing/2014/main" id="{EE50EFF5-85EF-C775-106A-FDD409C3C10A}"/>
              </a:ext>
            </a:extLst>
          </p:cNvPr>
          <p:cNvSpPr/>
          <p:nvPr/>
        </p:nvSpPr>
        <p:spPr>
          <a:xfrm>
            <a:off x="3173654" y="3201793"/>
            <a:ext cx="127315" cy="227671"/>
          </a:xfrm>
          <a:prstGeom prst="roundRect">
            <a:avLst>
              <a:gd name="adj" fmla="val 15171"/>
            </a:avLst>
          </a:prstGeom>
          <a:gradFill>
            <a:gsLst>
              <a:gs pos="43178">
                <a:srgbClr val="27C0DB"/>
              </a:gs>
              <a:gs pos="83000">
                <a:srgbClr val="28C0DD"/>
              </a:gs>
              <a:gs pos="100000">
                <a:srgbClr val="26C9E4"/>
              </a:gs>
              <a:gs pos="11520">
                <a:srgbClr val="3CBDD7"/>
              </a:gs>
              <a:gs pos="0">
                <a:srgbClr val="3CBDD7"/>
              </a:gs>
            </a:gsLst>
            <a:lin ang="0" scaled="0"/>
          </a:gradFill>
          <a:ln>
            <a:noFill/>
          </a:ln>
          <a:effectLst>
            <a:glow rad="12700">
              <a:srgbClr val="26C9E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1" name="四角形: 角を丸くする 76">
            <a:extLst>
              <a:ext uri="{FF2B5EF4-FFF2-40B4-BE49-F238E27FC236}">
                <a16:creationId xmlns:a16="http://schemas.microsoft.com/office/drawing/2014/main" id="{E0FA5D0A-84BD-B134-C0A8-26D67B2D77F4}"/>
              </a:ext>
            </a:extLst>
          </p:cNvPr>
          <p:cNvSpPr/>
          <p:nvPr/>
        </p:nvSpPr>
        <p:spPr>
          <a:xfrm>
            <a:off x="7820348" y="3238627"/>
            <a:ext cx="315471" cy="154001"/>
          </a:xfrm>
          <a:prstGeom prst="roundRect">
            <a:avLst>
              <a:gd name="adj" fmla="val 15124"/>
            </a:avLst>
          </a:prstGeom>
          <a:solidFill>
            <a:schemeClr val="tx1">
              <a:lumMod val="85000"/>
              <a:lumOff val="1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2" name="角丸四角形 62">
            <a:extLst>
              <a:ext uri="{FF2B5EF4-FFF2-40B4-BE49-F238E27FC236}">
                <a16:creationId xmlns:a16="http://schemas.microsoft.com/office/drawing/2014/main" id="{6362FC9E-A4E6-6801-9E22-06F3999FF3D0}"/>
              </a:ext>
            </a:extLst>
          </p:cNvPr>
          <p:cNvSpPr/>
          <p:nvPr/>
        </p:nvSpPr>
        <p:spPr>
          <a:xfrm>
            <a:off x="5566126" y="3188950"/>
            <a:ext cx="60970" cy="84913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3" name="円/楕円 63">
            <a:extLst>
              <a:ext uri="{FF2B5EF4-FFF2-40B4-BE49-F238E27FC236}">
                <a16:creationId xmlns:a16="http://schemas.microsoft.com/office/drawing/2014/main" id="{A1B333BB-EE95-30F8-680C-0D980C927CE4}"/>
              </a:ext>
            </a:extLst>
          </p:cNvPr>
          <p:cNvSpPr/>
          <p:nvPr/>
        </p:nvSpPr>
        <p:spPr>
          <a:xfrm>
            <a:off x="5575136" y="3313008"/>
            <a:ext cx="45718" cy="62131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BB27F4-A4D2-AD0B-2AD1-7C6CB2221261}"/>
              </a:ext>
            </a:extLst>
          </p:cNvPr>
          <p:cNvSpPr/>
          <p:nvPr/>
        </p:nvSpPr>
        <p:spPr>
          <a:xfrm>
            <a:off x="930635" y="3429000"/>
            <a:ext cx="493411" cy="826851"/>
          </a:xfrm>
          <a:prstGeom prst="roundRect">
            <a:avLst>
              <a:gd name="adj" fmla="val 8066"/>
            </a:avLst>
          </a:prstGeom>
          <a:solidFill>
            <a:srgbClr val="0000FF"/>
          </a:solidFill>
          <a:ln w="25400">
            <a:solidFill>
              <a:srgbClr val="DF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0193F8-47F4-20C4-9E87-A5F5A86C3C30}"/>
              </a:ext>
            </a:extLst>
          </p:cNvPr>
          <p:cNvSpPr/>
          <p:nvPr/>
        </p:nvSpPr>
        <p:spPr>
          <a:xfrm>
            <a:off x="803906" y="4401193"/>
            <a:ext cx="970869" cy="184314"/>
          </a:xfrm>
          <a:prstGeom prst="rect">
            <a:avLst/>
          </a:prstGeom>
          <a:solidFill>
            <a:srgbClr val="A53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830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09E2A1-6657-DB92-E2CA-F8A0A5D318C3}"/>
              </a:ext>
            </a:extLst>
          </p:cNvPr>
          <p:cNvSpPr/>
          <p:nvPr/>
        </p:nvSpPr>
        <p:spPr>
          <a:xfrm>
            <a:off x="484904" y="752354"/>
            <a:ext cx="11707095" cy="1365813"/>
          </a:xfrm>
          <a:prstGeom prst="rect">
            <a:avLst/>
          </a:prstGeom>
          <a:gradFill>
            <a:gsLst>
              <a:gs pos="100000">
                <a:srgbClr val="32373A"/>
              </a:gs>
              <a:gs pos="46200">
                <a:srgbClr val="2B2A28"/>
              </a:gs>
              <a:gs pos="35000">
                <a:srgbClr val="646A66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652897-C6A3-CD7E-2949-992550122C08}"/>
              </a:ext>
            </a:extLst>
          </p:cNvPr>
          <p:cNvSpPr/>
          <p:nvPr/>
        </p:nvSpPr>
        <p:spPr>
          <a:xfrm>
            <a:off x="65590" y="3948896"/>
            <a:ext cx="12126409" cy="1365813"/>
          </a:xfrm>
          <a:prstGeom prst="rect">
            <a:avLst/>
          </a:prstGeom>
          <a:gradFill>
            <a:gsLst>
              <a:gs pos="100000">
                <a:srgbClr val="32373A"/>
              </a:gs>
              <a:gs pos="46200">
                <a:srgbClr val="2B2A28"/>
              </a:gs>
              <a:gs pos="35000">
                <a:srgbClr val="646A66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F99F4-2B75-D1D9-AC40-95479F924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058"/>
            <a:ext cx="12192000" cy="2932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9D6FB4-7DA7-13AA-9770-A11490C0C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9998"/>
            <a:ext cx="12192000" cy="296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66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東京メトロ8000系の行先表示器がフルカラーLED化される｜鉄道ニュース｜2016年2月12日掲載｜鉄道ファン・railf.jp">
            <a:extLst>
              <a:ext uri="{FF2B5EF4-FFF2-40B4-BE49-F238E27FC236}">
                <a16:creationId xmlns:a16="http://schemas.microsoft.com/office/drawing/2014/main" id="{A92B9B3D-76C1-0EAA-41E5-49931B30F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47" y="1387679"/>
            <a:ext cx="4424494" cy="442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50C021-0EF6-55BF-A677-34617F9BC9BE}"/>
              </a:ext>
            </a:extLst>
          </p:cNvPr>
          <p:cNvSpPr/>
          <p:nvPr/>
        </p:nvSpPr>
        <p:spPr>
          <a:xfrm>
            <a:off x="5509260" y="4518660"/>
            <a:ext cx="3600000" cy="881266"/>
          </a:xfrm>
          <a:prstGeom prst="rect">
            <a:avLst/>
          </a:prstGeom>
          <a:gradFill>
            <a:gsLst>
              <a:gs pos="0">
                <a:srgbClr val="9D999B"/>
              </a:gs>
              <a:gs pos="70000">
                <a:srgbClr val="EAE5E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営団 / 東京メトロ 8000系 半蔵門線 正面イラスト">
            <a:extLst>
              <a:ext uri="{FF2B5EF4-FFF2-40B4-BE49-F238E27FC236}">
                <a16:creationId xmlns:a16="http://schemas.microsoft.com/office/drawing/2014/main" id="{9CB502DA-E20F-9AD6-7678-D232ADCD9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460" y="1615951"/>
            <a:ext cx="1828800" cy="4943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4A0C62-37FD-C343-B6E8-EB167C252448}"/>
              </a:ext>
            </a:extLst>
          </p:cNvPr>
          <p:cNvSpPr/>
          <p:nvPr/>
        </p:nvSpPr>
        <p:spPr>
          <a:xfrm>
            <a:off x="5509260" y="1799926"/>
            <a:ext cx="3600000" cy="2979338"/>
          </a:xfrm>
          <a:prstGeom prst="roundRect">
            <a:avLst>
              <a:gd name="adj" fmla="val 3994"/>
            </a:avLst>
          </a:prstGeom>
          <a:solidFill>
            <a:srgbClr val="D0CF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E5F5E0-37A8-CE26-3CB0-2BA0268A0A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5634"/>
          <a:stretch/>
        </p:blipFill>
        <p:spPr>
          <a:xfrm>
            <a:off x="9581700" y="1940560"/>
            <a:ext cx="532331" cy="3459366"/>
          </a:xfrm>
          <a:prstGeom prst="rect">
            <a:avLst/>
          </a:prstGeom>
        </p:spPr>
      </p:pic>
      <p:pic>
        <p:nvPicPr>
          <p:cNvPr id="1032" name="Picture 8" descr="初代”半蔵門線の8000系、25年度までに引退 08系は機器更新計画 - TRAICY（トライシー）">
            <a:extLst>
              <a:ext uri="{FF2B5EF4-FFF2-40B4-BE49-F238E27FC236}">
                <a16:creationId xmlns:a16="http://schemas.microsoft.com/office/drawing/2014/main" id="{C459C03B-DAEB-9BC2-9433-9945B9104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5421" y="-879676"/>
            <a:ext cx="3743441" cy="249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3C082B-BC74-93CE-D59E-B97BB3338C01}"/>
              </a:ext>
            </a:extLst>
          </p:cNvPr>
          <p:cNvSpPr/>
          <p:nvPr/>
        </p:nvSpPr>
        <p:spPr>
          <a:xfrm>
            <a:off x="5567680" y="1990292"/>
            <a:ext cx="3479800" cy="2679243"/>
          </a:xfrm>
          <a:custGeom>
            <a:avLst/>
            <a:gdLst>
              <a:gd name="connsiteX0" fmla="*/ 0 w 3433064"/>
              <a:gd name="connsiteY0" fmla="*/ 179832 h 2578608"/>
              <a:gd name="connsiteX1" fmla="*/ 179832 w 3433064"/>
              <a:gd name="connsiteY1" fmla="*/ 0 h 2578608"/>
              <a:gd name="connsiteX2" fmla="*/ 3253232 w 3433064"/>
              <a:gd name="connsiteY2" fmla="*/ 0 h 2578608"/>
              <a:gd name="connsiteX3" fmla="*/ 3433064 w 3433064"/>
              <a:gd name="connsiteY3" fmla="*/ 179832 h 2578608"/>
              <a:gd name="connsiteX4" fmla="*/ 3433064 w 3433064"/>
              <a:gd name="connsiteY4" fmla="*/ 2398776 h 2578608"/>
              <a:gd name="connsiteX5" fmla="*/ 3253232 w 3433064"/>
              <a:gd name="connsiteY5" fmla="*/ 2578608 h 2578608"/>
              <a:gd name="connsiteX6" fmla="*/ 179832 w 3433064"/>
              <a:gd name="connsiteY6" fmla="*/ 2578608 h 2578608"/>
              <a:gd name="connsiteX7" fmla="*/ 0 w 3433064"/>
              <a:gd name="connsiteY7" fmla="*/ 2398776 h 2578608"/>
              <a:gd name="connsiteX8" fmla="*/ 0 w 3433064"/>
              <a:gd name="connsiteY8" fmla="*/ 179832 h 2578608"/>
              <a:gd name="connsiteX0" fmla="*/ 0 w 3433064"/>
              <a:gd name="connsiteY0" fmla="*/ 236728 h 2635504"/>
              <a:gd name="connsiteX1" fmla="*/ 179832 w 3433064"/>
              <a:gd name="connsiteY1" fmla="*/ 56896 h 2635504"/>
              <a:gd name="connsiteX2" fmla="*/ 3253232 w 3433064"/>
              <a:gd name="connsiteY2" fmla="*/ 56896 h 2635504"/>
              <a:gd name="connsiteX3" fmla="*/ 3433064 w 3433064"/>
              <a:gd name="connsiteY3" fmla="*/ 236728 h 2635504"/>
              <a:gd name="connsiteX4" fmla="*/ 3433064 w 3433064"/>
              <a:gd name="connsiteY4" fmla="*/ 2455672 h 2635504"/>
              <a:gd name="connsiteX5" fmla="*/ 3253232 w 3433064"/>
              <a:gd name="connsiteY5" fmla="*/ 2635504 h 2635504"/>
              <a:gd name="connsiteX6" fmla="*/ 179832 w 3433064"/>
              <a:gd name="connsiteY6" fmla="*/ 2635504 h 2635504"/>
              <a:gd name="connsiteX7" fmla="*/ 0 w 3433064"/>
              <a:gd name="connsiteY7" fmla="*/ 2455672 h 2635504"/>
              <a:gd name="connsiteX8" fmla="*/ 0 w 3433064"/>
              <a:gd name="connsiteY8" fmla="*/ 236728 h 2635504"/>
              <a:gd name="connsiteX0" fmla="*/ 0 w 3433064"/>
              <a:gd name="connsiteY0" fmla="*/ 280467 h 2679243"/>
              <a:gd name="connsiteX1" fmla="*/ 179832 w 3433064"/>
              <a:gd name="connsiteY1" fmla="*/ 100635 h 2679243"/>
              <a:gd name="connsiteX2" fmla="*/ 3253232 w 3433064"/>
              <a:gd name="connsiteY2" fmla="*/ 100635 h 2679243"/>
              <a:gd name="connsiteX3" fmla="*/ 3433064 w 3433064"/>
              <a:gd name="connsiteY3" fmla="*/ 280467 h 2679243"/>
              <a:gd name="connsiteX4" fmla="*/ 3433064 w 3433064"/>
              <a:gd name="connsiteY4" fmla="*/ 2499411 h 2679243"/>
              <a:gd name="connsiteX5" fmla="*/ 3253232 w 3433064"/>
              <a:gd name="connsiteY5" fmla="*/ 2679243 h 2679243"/>
              <a:gd name="connsiteX6" fmla="*/ 179832 w 3433064"/>
              <a:gd name="connsiteY6" fmla="*/ 2679243 h 2679243"/>
              <a:gd name="connsiteX7" fmla="*/ 0 w 3433064"/>
              <a:gd name="connsiteY7" fmla="*/ 2499411 h 2679243"/>
              <a:gd name="connsiteX8" fmla="*/ 0 w 3433064"/>
              <a:gd name="connsiteY8" fmla="*/ 280467 h 267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3064" h="2679243">
                <a:moveTo>
                  <a:pt x="0" y="280467"/>
                </a:moveTo>
                <a:cubicBezTo>
                  <a:pt x="0" y="181149"/>
                  <a:pt x="80514" y="100635"/>
                  <a:pt x="179832" y="100635"/>
                </a:cubicBezTo>
                <a:cubicBezTo>
                  <a:pt x="1246971" y="-27381"/>
                  <a:pt x="2240957" y="-39573"/>
                  <a:pt x="3253232" y="100635"/>
                </a:cubicBezTo>
                <a:cubicBezTo>
                  <a:pt x="3352550" y="100635"/>
                  <a:pt x="3433064" y="181149"/>
                  <a:pt x="3433064" y="280467"/>
                </a:cubicBezTo>
                <a:lnTo>
                  <a:pt x="3433064" y="2499411"/>
                </a:lnTo>
                <a:cubicBezTo>
                  <a:pt x="3433064" y="2598729"/>
                  <a:pt x="3352550" y="2679243"/>
                  <a:pt x="3253232" y="2679243"/>
                </a:cubicBezTo>
                <a:lnTo>
                  <a:pt x="179832" y="2679243"/>
                </a:lnTo>
                <a:cubicBezTo>
                  <a:pt x="80514" y="2679243"/>
                  <a:pt x="0" y="2598729"/>
                  <a:pt x="0" y="2499411"/>
                </a:cubicBezTo>
                <a:lnTo>
                  <a:pt x="0" y="280467"/>
                </a:lnTo>
                <a:close/>
              </a:path>
            </a:pathLst>
          </a:custGeom>
          <a:gradFill>
            <a:gsLst>
              <a:gs pos="100000">
                <a:srgbClr val="D0CFD4"/>
              </a:gs>
              <a:gs pos="0">
                <a:srgbClr val="C2C1C7"/>
              </a:gs>
            </a:gsLst>
            <a:lin ang="5400000" scaled="1"/>
          </a:gradFill>
          <a:ln>
            <a:noFill/>
          </a:ln>
          <a:effectLst>
            <a:innerShdw blurRad="152400" dist="889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2B12DC-A653-DA35-177F-8B1BF9CE1E0D}"/>
              </a:ext>
            </a:extLst>
          </p:cNvPr>
          <p:cNvSpPr/>
          <p:nvPr/>
        </p:nvSpPr>
        <p:spPr>
          <a:xfrm>
            <a:off x="5567680" y="4120289"/>
            <a:ext cx="3479800" cy="614018"/>
          </a:xfrm>
          <a:custGeom>
            <a:avLst/>
            <a:gdLst>
              <a:gd name="connsiteX0" fmla="*/ 0 w 3479800"/>
              <a:gd name="connsiteY0" fmla="*/ 58650 h 609600"/>
              <a:gd name="connsiteX1" fmla="*/ 58650 w 3479800"/>
              <a:gd name="connsiteY1" fmla="*/ 0 h 609600"/>
              <a:gd name="connsiteX2" fmla="*/ 3421150 w 3479800"/>
              <a:gd name="connsiteY2" fmla="*/ 0 h 609600"/>
              <a:gd name="connsiteX3" fmla="*/ 3479800 w 3479800"/>
              <a:gd name="connsiteY3" fmla="*/ 58650 h 609600"/>
              <a:gd name="connsiteX4" fmla="*/ 3479800 w 3479800"/>
              <a:gd name="connsiteY4" fmla="*/ 550950 h 609600"/>
              <a:gd name="connsiteX5" fmla="*/ 3421150 w 3479800"/>
              <a:gd name="connsiteY5" fmla="*/ 609600 h 609600"/>
              <a:gd name="connsiteX6" fmla="*/ 58650 w 3479800"/>
              <a:gd name="connsiteY6" fmla="*/ 609600 h 609600"/>
              <a:gd name="connsiteX7" fmla="*/ 0 w 3479800"/>
              <a:gd name="connsiteY7" fmla="*/ 550950 h 609600"/>
              <a:gd name="connsiteX8" fmla="*/ 0 w 3479800"/>
              <a:gd name="connsiteY8" fmla="*/ 58650 h 609600"/>
              <a:gd name="connsiteX0" fmla="*/ 0 w 3479800"/>
              <a:gd name="connsiteY0" fmla="*/ 22662 h 611712"/>
              <a:gd name="connsiteX1" fmla="*/ 58650 w 3479800"/>
              <a:gd name="connsiteY1" fmla="*/ 2112 h 611712"/>
              <a:gd name="connsiteX2" fmla="*/ 3421150 w 3479800"/>
              <a:gd name="connsiteY2" fmla="*/ 2112 h 611712"/>
              <a:gd name="connsiteX3" fmla="*/ 3479800 w 3479800"/>
              <a:gd name="connsiteY3" fmla="*/ 60762 h 611712"/>
              <a:gd name="connsiteX4" fmla="*/ 3479800 w 3479800"/>
              <a:gd name="connsiteY4" fmla="*/ 553062 h 611712"/>
              <a:gd name="connsiteX5" fmla="*/ 3421150 w 3479800"/>
              <a:gd name="connsiteY5" fmla="*/ 611712 h 611712"/>
              <a:gd name="connsiteX6" fmla="*/ 58650 w 3479800"/>
              <a:gd name="connsiteY6" fmla="*/ 611712 h 611712"/>
              <a:gd name="connsiteX7" fmla="*/ 0 w 3479800"/>
              <a:gd name="connsiteY7" fmla="*/ 553062 h 611712"/>
              <a:gd name="connsiteX8" fmla="*/ 0 w 3479800"/>
              <a:gd name="connsiteY8" fmla="*/ 22662 h 611712"/>
              <a:gd name="connsiteX0" fmla="*/ 0 w 3479800"/>
              <a:gd name="connsiteY0" fmla="*/ 24968 h 614018"/>
              <a:gd name="connsiteX1" fmla="*/ 58650 w 3479800"/>
              <a:gd name="connsiteY1" fmla="*/ 4418 h 614018"/>
              <a:gd name="connsiteX2" fmla="*/ 3421150 w 3479800"/>
              <a:gd name="connsiteY2" fmla="*/ 4418 h 614018"/>
              <a:gd name="connsiteX3" fmla="*/ 3479800 w 3479800"/>
              <a:gd name="connsiteY3" fmla="*/ 19888 h 614018"/>
              <a:gd name="connsiteX4" fmla="*/ 3479800 w 3479800"/>
              <a:gd name="connsiteY4" fmla="*/ 555368 h 614018"/>
              <a:gd name="connsiteX5" fmla="*/ 3421150 w 3479800"/>
              <a:gd name="connsiteY5" fmla="*/ 614018 h 614018"/>
              <a:gd name="connsiteX6" fmla="*/ 58650 w 3479800"/>
              <a:gd name="connsiteY6" fmla="*/ 614018 h 614018"/>
              <a:gd name="connsiteX7" fmla="*/ 0 w 3479800"/>
              <a:gd name="connsiteY7" fmla="*/ 555368 h 614018"/>
              <a:gd name="connsiteX8" fmla="*/ 0 w 3479800"/>
              <a:gd name="connsiteY8" fmla="*/ 24968 h 614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9800" h="614018">
                <a:moveTo>
                  <a:pt x="0" y="24968"/>
                </a:moveTo>
                <a:cubicBezTo>
                  <a:pt x="0" y="-7424"/>
                  <a:pt x="26258" y="4418"/>
                  <a:pt x="58650" y="4418"/>
                </a:cubicBezTo>
                <a:lnTo>
                  <a:pt x="3421150" y="4418"/>
                </a:lnTo>
                <a:cubicBezTo>
                  <a:pt x="3453542" y="4418"/>
                  <a:pt x="3479800" y="-12504"/>
                  <a:pt x="3479800" y="19888"/>
                </a:cubicBezTo>
                <a:lnTo>
                  <a:pt x="3479800" y="555368"/>
                </a:lnTo>
                <a:cubicBezTo>
                  <a:pt x="3479800" y="587760"/>
                  <a:pt x="3453542" y="614018"/>
                  <a:pt x="3421150" y="614018"/>
                </a:cubicBezTo>
                <a:lnTo>
                  <a:pt x="58650" y="614018"/>
                </a:lnTo>
                <a:cubicBezTo>
                  <a:pt x="26258" y="614018"/>
                  <a:pt x="0" y="587760"/>
                  <a:pt x="0" y="555368"/>
                </a:cubicBezTo>
                <a:lnTo>
                  <a:pt x="0" y="24968"/>
                </a:lnTo>
                <a:close/>
              </a:path>
            </a:pathLst>
          </a:custGeom>
          <a:gradFill>
            <a:gsLst>
              <a:gs pos="15000">
                <a:srgbClr val="B73783"/>
              </a:gs>
              <a:gs pos="21000">
                <a:srgbClr val="8E2A66"/>
              </a:gs>
              <a:gs pos="100000">
                <a:srgbClr val="A5317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89F239-95A5-CB1B-00B8-EEC45746C013}"/>
              </a:ext>
            </a:extLst>
          </p:cNvPr>
          <p:cNvSpPr/>
          <p:nvPr/>
        </p:nvSpPr>
        <p:spPr>
          <a:xfrm>
            <a:off x="5698781" y="2580424"/>
            <a:ext cx="438149" cy="1475093"/>
          </a:xfrm>
          <a:prstGeom prst="roundRect">
            <a:avLst>
              <a:gd name="adj" fmla="val 34386"/>
            </a:avLst>
          </a:prstGeom>
          <a:gradFill>
            <a:gsLst>
              <a:gs pos="93000">
                <a:srgbClr val="A0AFAC"/>
              </a:gs>
              <a:gs pos="5000">
                <a:srgbClr val="829496"/>
              </a:gs>
              <a:gs pos="24000">
                <a:srgbClr val="43494B"/>
              </a:gs>
              <a:gs pos="91000">
                <a:srgbClr val="5E6A69"/>
              </a:gs>
              <a:gs pos="100000">
                <a:srgbClr val="9CADA9"/>
              </a:gs>
            </a:gsLst>
            <a:lin ang="5400000" scaled="1"/>
          </a:gra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64B2ED-D4FD-0750-FC6C-085D24A03815}"/>
              </a:ext>
            </a:extLst>
          </p:cNvPr>
          <p:cNvSpPr/>
          <p:nvPr/>
        </p:nvSpPr>
        <p:spPr>
          <a:xfrm>
            <a:off x="7338060" y="2580424"/>
            <a:ext cx="1638300" cy="1475093"/>
          </a:xfrm>
          <a:prstGeom prst="roundRect">
            <a:avLst>
              <a:gd name="adj" fmla="val 4831"/>
            </a:avLst>
          </a:prstGeom>
          <a:gradFill>
            <a:gsLst>
              <a:gs pos="93000">
                <a:srgbClr val="A0AFAC"/>
              </a:gs>
              <a:gs pos="5000">
                <a:srgbClr val="829496"/>
              </a:gs>
              <a:gs pos="24000">
                <a:srgbClr val="43494B"/>
              </a:gs>
              <a:gs pos="91000">
                <a:srgbClr val="5E6A69"/>
              </a:gs>
              <a:gs pos="100000">
                <a:srgbClr val="9CADA9"/>
              </a:gs>
            </a:gsLst>
            <a:lin ang="5400000" scaled="1"/>
          </a:gra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39A19A-789F-4A0B-C94D-BA31B8D5043C}"/>
              </a:ext>
            </a:extLst>
          </p:cNvPr>
          <p:cNvSpPr/>
          <p:nvPr/>
        </p:nvSpPr>
        <p:spPr>
          <a:xfrm>
            <a:off x="5699759" y="2041251"/>
            <a:ext cx="3276601" cy="474400"/>
          </a:xfrm>
          <a:custGeom>
            <a:avLst/>
            <a:gdLst>
              <a:gd name="connsiteX0" fmla="*/ 0 w 3276601"/>
              <a:gd name="connsiteY0" fmla="*/ 58356 h 356112"/>
              <a:gd name="connsiteX1" fmla="*/ 58356 w 3276601"/>
              <a:gd name="connsiteY1" fmla="*/ 0 h 356112"/>
              <a:gd name="connsiteX2" fmla="*/ 3218245 w 3276601"/>
              <a:gd name="connsiteY2" fmla="*/ 0 h 356112"/>
              <a:gd name="connsiteX3" fmla="*/ 3276601 w 3276601"/>
              <a:gd name="connsiteY3" fmla="*/ 58356 h 356112"/>
              <a:gd name="connsiteX4" fmla="*/ 3276601 w 3276601"/>
              <a:gd name="connsiteY4" fmla="*/ 297756 h 356112"/>
              <a:gd name="connsiteX5" fmla="*/ 3218245 w 3276601"/>
              <a:gd name="connsiteY5" fmla="*/ 356112 h 356112"/>
              <a:gd name="connsiteX6" fmla="*/ 58356 w 3276601"/>
              <a:gd name="connsiteY6" fmla="*/ 356112 h 356112"/>
              <a:gd name="connsiteX7" fmla="*/ 0 w 3276601"/>
              <a:gd name="connsiteY7" fmla="*/ 297756 h 356112"/>
              <a:gd name="connsiteX8" fmla="*/ 0 w 3276601"/>
              <a:gd name="connsiteY8" fmla="*/ 58356 h 356112"/>
              <a:gd name="connsiteX0" fmla="*/ 0 w 3276601"/>
              <a:gd name="connsiteY0" fmla="*/ 69786 h 367542"/>
              <a:gd name="connsiteX1" fmla="*/ 130746 w 3276601"/>
              <a:gd name="connsiteY1" fmla="*/ 0 h 367542"/>
              <a:gd name="connsiteX2" fmla="*/ 3218245 w 3276601"/>
              <a:gd name="connsiteY2" fmla="*/ 11430 h 367542"/>
              <a:gd name="connsiteX3" fmla="*/ 3276601 w 3276601"/>
              <a:gd name="connsiteY3" fmla="*/ 69786 h 367542"/>
              <a:gd name="connsiteX4" fmla="*/ 3276601 w 3276601"/>
              <a:gd name="connsiteY4" fmla="*/ 309186 h 367542"/>
              <a:gd name="connsiteX5" fmla="*/ 3218245 w 3276601"/>
              <a:gd name="connsiteY5" fmla="*/ 367542 h 367542"/>
              <a:gd name="connsiteX6" fmla="*/ 58356 w 3276601"/>
              <a:gd name="connsiteY6" fmla="*/ 367542 h 367542"/>
              <a:gd name="connsiteX7" fmla="*/ 0 w 3276601"/>
              <a:gd name="connsiteY7" fmla="*/ 309186 h 367542"/>
              <a:gd name="connsiteX8" fmla="*/ 0 w 3276601"/>
              <a:gd name="connsiteY8" fmla="*/ 69786 h 367542"/>
              <a:gd name="connsiteX0" fmla="*/ 0 w 3276601"/>
              <a:gd name="connsiteY0" fmla="*/ 127014 h 424770"/>
              <a:gd name="connsiteX1" fmla="*/ 130746 w 3276601"/>
              <a:gd name="connsiteY1" fmla="*/ 57228 h 424770"/>
              <a:gd name="connsiteX2" fmla="*/ 3218245 w 3276601"/>
              <a:gd name="connsiteY2" fmla="*/ 68658 h 424770"/>
              <a:gd name="connsiteX3" fmla="*/ 3276601 w 3276601"/>
              <a:gd name="connsiteY3" fmla="*/ 127014 h 424770"/>
              <a:gd name="connsiteX4" fmla="*/ 3276601 w 3276601"/>
              <a:gd name="connsiteY4" fmla="*/ 366414 h 424770"/>
              <a:gd name="connsiteX5" fmla="*/ 3218245 w 3276601"/>
              <a:gd name="connsiteY5" fmla="*/ 424770 h 424770"/>
              <a:gd name="connsiteX6" fmla="*/ 58356 w 3276601"/>
              <a:gd name="connsiteY6" fmla="*/ 424770 h 424770"/>
              <a:gd name="connsiteX7" fmla="*/ 0 w 3276601"/>
              <a:gd name="connsiteY7" fmla="*/ 366414 h 424770"/>
              <a:gd name="connsiteX8" fmla="*/ 0 w 3276601"/>
              <a:gd name="connsiteY8" fmla="*/ 127014 h 424770"/>
              <a:gd name="connsiteX0" fmla="*/ 0 w 3276601"/>
              <a:gd name="connsiteY0" fmla="*/ 132001 h 429757"/>
              <a:gd name="connsiteX1" fmla="*/ 130746 w 3276601"/>
              <a:gd name="connsiteY1" fmla="*/ 62215 h 429757"/>
              <a:gd name="connsiteX2" fmla="*/ 3035365 w 3276601"/>
              <a:gd name="connsiteY2" fmla="*/ 54595 h 429757"/>
              <a:gd name="connsiteX3" fmla="*/ 3276601 w 3276601"/>
              <a:gd name="connsiteY3" fmla="*/ 132001 h 429757"/>
              <a:gd name="connsiteX4" fmla="*/ 3276601 w 3276601"/>
              <a:gd name="connsiteY4" fmla="*/ 371401 h 429757"/>
              <a:gd name="connsiteX5" fmla="*/ 3218245 w 3276601"/>
              <a:gd name="connsiteY5" fmla="*/ 429757 h 429757"/>
              <a:gd name="connsiteX6" fmla="*/ 58356 w 3276601"/>
              <a:gd name="connsiteY6" fmla="*/ 429757 h 429757"/>
              <a:gd name="connsiteX7" fmla="*/ 0 w 3276601"/>
              <a:gd name="connsiteY7" fmla="*/ 371401 h 429757"/>
              <a:gd name="connsiteX8" fmla="*/ 0 w 3276601"/>
              <a:gd name="connsiteY8" fmla="*/ 132001 h 429757"/>
              <a:gd name="connsiteX0" fmla="*/ 0 w 3276601"/>
              <a:gd name="connsiteY0" fmla="*/ 176644 h 474400"/>
              <a:gd name="connsiteX1" fmla="*/ 130746 w 3276601"/>
              <a:gd name="connsiteY1" fmla="*/ 106858 h 474400"/>
              <a:gd name="connsiteX2" fmla="*/ 3035365 w 3276601"/>
              <a:gd name="connsiteY2" fmla="*/ 99238 h 474400"/>
              <a:gd name="connsiteX3" fmla="*/ 3276601 w 3276601"/>
              <a:gd name="connsiteY3" fmla="*/ 176644 h 474400"/>
              <a:gd name="connsiteX4" fmla="*/ 3276601 w 3276601"/>
              <a:gd name="connsiteY4" fmla="*/ 416044 h 474400"/>
              <a:gd name="connsiteX5" fmla="*/ 3218245 w 3276601"/>
              <a:gd name="connsiteY5" fmla="*/ 474400 h 474400"/>
              <a:gd name="connsiteX6" fmla="*/ 58356 w 3276601"/>
              <a:gd name="connsiteY6" fmla="*/ 474400 h 474400"/>
              <a:gd name="connsiteX7" fmla="*/ 0 w 3276601"/>
              <a:gd name="connsiteY7" fmla="*/ 416044 h 474400"/>
              <a:gd name="connsiteX8" fmla="*/ 0 w 3276601"/>
              <a:gd name="connsiteY8" fmla="*/ 176644 h 47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6601" h="474400">
                <a:moveTo>
                  <a:pt x="0" y="176644"/>
                </a:moveTo>
                <a:cubicBezTo>
                  <a:pt x="0" y="144415"/>
                  <a:pt x="98517" y="106858"/>
                  <a:pt x="130746" y="106858"/>
                </a:cubicBezTo>
                <a:cubicBezTo>
                  <a:pt x="1190392" y="-26492"/>
                  <a:pt x="2063349" y="-41732"/>
                  <a:pt x="3035365" y="99238"/>
                </a:cubicBezTo>
                <a:cubicBezTo>
                  <a:pt x="3067594" y="99238"/>
                  <a:pt x="3276601" y="144415"/>
                  <a:pt x="3276601" y="176644"/>
                </a:cubicBezTo>
                <a:lnTo>
                  <a:pt x="3276601" y="416044"/>
                </a:lnTo>
                <a:cubicBezTo>
                  <a:pt x="3276601" y="448273"/>
                  <a:pt x="3250474" y="474400"/>
                  <a:pt x="3218245" y="474400"/>
                </a:cubicBezTo>
                <a:lnTo>
                  <a:pt x="58356" y="474400"/>
                </a:lnTo>
                <a:cubicBezTo>
                  <a:pt x="26127" y="474400"/>
                  <a:pt x="0" y="448273"/>
                  <a:pt x="0" y="416044"/>
                </a:cubicBezTo>
                <a:lnTo>
                  <a:pt x="0" y="176644"/>
                </a:lnTo>
                <a:close/>
              </a:path>
            </a:pathLst>
          </a:custGeom>
          <a:gradFill>
            <a:gsLst>
              <a:gs pos="0">
                <a:srgbClr val="2B3B49"/>
              </a:gs>
              <a:gs pos="94000">
                <a:srgbClr val="000002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DDD119-F1D6-946D-0E71-D8243188716E}"/>
              </a:ext>
            </a:extLst>
          </p:cNvPr>
          <p:cNvSpPr/>
          <p:nvPr/>
        </p:nvSpPr>
        <p:spPr>
          <a:xfrm>
            <a:off x="6269009" y="2580424"/>
            <a:ext cx="936463" cy="2819502"/>
          </a:xfrm>
          <a:prstGeom prst="roundRect">
            <a:avLst>
              <a:gd name="adj" fmla="val 12761"/>
            </a:avLst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A13BBA-2F9D-5D4A-B274-26522A5CEFC9}"/>
              </a:ext>
            </a:extLst>
          </p:cNvPr>
          <p:cNvSpPr/>
          <p:nvPr/>
        </p:nvSpPr>
        <p:spPr>
          <a:xfrm>
            <a:off x="5509260" y="5177635"/>
            <a:ext cx="3600000" cy="287063"/>
          </a:xfrm>
          <a:prstGeom prst="rect">
            <a:avLst/>
          </a:prstGeom>
          <a:gradFill>
            <a:gsLst>
              <a:gs pos="25000">
                <a:srgbClr val="829092"/>
              </a:gs>
              <a:gs pos="20000">
                <a:srgbClr val="697681"/>
              </a:gs>
              <a:gs pos="0">
                <a:srgbClr val="697681"/>
              </a:gs>
              <a:gs pos="87000">
                <a:srgbClr val="4E5156"/>
              </a:gs>
              <a:gs pos="77000">
                <a:srgbClr val="8A9598"/>
              </a:gs>
              <a:gs pos="83000">
                <a:srgbClr val="A3A6AB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032">
            <a:extLst>
              <a:ext uri="{FF2B5EF4-FFF2-40B4-BE49-F238E27FC236}">
                <a16:creationId xmlns:a16="http://schemas.microsoft.com/office/drawing/2014/main" id="{3F20B6E4-4046-D666-2BBD-45081349AAD0}"/>
              </a:ext>
            </a:extLst>
          </p:cNvPr>
          <p:cNvSpPr/>
          <p:nvPr/>
        </p:nvSpPr>
        <p:spPr>
          <a:xfrm>
            <a:off x="6520719" y="2861233"/>
            <a:ext cx="418410" cy="420713"/>
          </a:xfrm>
          <a:prstGeom prst="roundRect">
            <a:avLst>
              <a:gd name="adj" fmla="val 15171"/>
            </a:avLst>
          </a:prstGeom>
          <a:gradFill>
            <a:gsLst>
              <a:gs pos="43178">
                <a:srgbClr val="27C0DB"/>
              </a:gs>
              <a:gs pos="83000">
                <a:srgbClr val="28C0DD"/>
              </a:gs>
              <a:gs pos="100000">
                <a:srgbClr val="26C9E4"/>
              </a:gs>
              <a:gs pos="11520">
                <a:srgbClr val="3CBDD7"/>
              </a:gs>
              <a:gs pos="0">
                <a:srgbClr val="3CBDD7"/>
              </a:gs>
            </a:gsLst>
            <a:lin ang="0" scaled="0"/>
          </a:gradFill>
          <a:ln>
            <a:noFill/>
          </a:ln>
          <a:effectLst>
            <a:glow rad="12700">
              <a:srgbClr val="26C9E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1DBA19-1C84-6C88-C5C9-057A4918D8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r="6389"/>
          <a:stretch/>
        </p:blipFill>
        <p:spPr>
          <a:xfrm flipH="1">
            <a:off x="5614061" y="4267972"/>
            <a:ext cx="356235" cy="4525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27583D-0B2C-B6BD-5A44-A1AAF4E7B5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r="6389"/>
          <a:stretch/>
        </p:blipFill>
        <p:spPr>
          <a:xfrm flipH="1">
            <a:off x="8661177" y="4254710"/>
            <a:ext cx="356235" cy="4525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3DC1F3-F025-E48C-0B4B-CC395CE8E992}"/>
              </a:ext>
            </a:extLst>
          </p:cNvPr>
          <p:cNvSpPr txBox="1"/>
          <p:nvPr/>
        </p:nvSpPr>
        <p:spPr>
          <a:xfrm>
            <a:off x="6839712" y="1266480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85000"/>
                  </a:schemeClr>
                </a:solidFill>
                <a:latin typeface="TRTA Numbers Rounded" pitchFamily="2" charset="0"/>
              </a:rPr>
              <a:t>8014</a:t>
            </a:r>
            <a:endParaRPr kumimoji="1" lang="ja-JP" altLang="en-US" dirty="0">
              <a:solidFill>
                <a:schemeClr val="bg1">
                  <a:lumMod val="85000"/>
                </a:schemeClr>
              </a:solidFill>
              <a:latin typeface="TRTA Numbers Rounded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EEE003-D79A-63D7-9226-0D403B5A8FA0}"/>
              </a:ext>
            </a:extLst>
          </p:cNvPr>
          <p:cNvSpPr/>
          <p:nvPr/>
        </p:nvSpPr>
        <p:spPr>
          <a:xfrm>
            <a:off x="6704523" y="5224683"/>
            <a:ext cx="1004680" cy="237933"/>
          </a:xfrm>
          <a:custGeom>
            <a:avLst/>
            <a:gdLst>
              <a:gd name="connsiteX0" fmla="*/ 0 w 1004680"/>
              <a:gd name="connsiteY0" fmla="*/ 0 h 230313"/>
              <a:gd name="connsiteX1" fmla="*/ 1004680 w 1004680"/>
              <a:gd name="connsiteY1" fmla="*/ 0 h 230313"/>
              <a:gd name="connsiteX2" fmla="*/ 1004680 w 1004680"/>
              <a:gd name="connsiteY2" fmla="*/ 230313 h 230313"/>
              <a:gd name="connsiteX3" fmla="*/ 0 w 1004680"/>
              <a:gd name="connsiteY3" fmla="*/ 230313 h 230313"/>
              <a:gd name="connsiteX4" fmla="*/ 0 w 1004680"/>
              <a:gd name="connsiteY4" fmla="*/ 0 h 230313"/>
              <a:gd name="connsiteX0" fmla="*/ 57150 w 1004680"/>
              <a:gd name="connsiteY0" fmla="*/ 0 h 234123"/>
              <a:gd name="connsiteX1" fmla="*/ 1004680 w 1004680"/>
              <a:gd name="connsiteY1" fmla="*/ 3810 h 234123"/>
              <a:gd name="connsiteX2" fmla="*/ 1004680 w 1004680"/>
              <a:gd name="connsiteY2" fmla="*/ 234123 h 234123"/>
              <a:gd name="connsiteX3" fmla="*/ 0 w 1004680"/>
              <a:gd name="connsiteY3" fmla="*/ 234123 h 234123"/>
              <a:gd name="connsiteX4" fmla="*/ 57150 w 1004680"/>
              <a:gd name="connsiteY4" fmla="*/ 0 h 234123"/>
              <a:gd name="connsiteX0" fmla="*/ 57150 w 1004680"/>
              <a:gd name="connsiteY0" fmla="*/ 0 h 234123"/>
              <a:gd name="connsiteX1" fmla="*/ 962770 w 1004680"/>
              <a:gd name="connsiteY1" fmla="*/ 7620 h 234123"/>
              <a:gd name="connsiteX2" fmla="*/ 1004680 w 1004680"/>
              <a:gd name="connsiteY2" fmla="*/ 234123 h 234123"/>
              <a:gd name="connsiteX3" fmla="*/ 0 w 1004680"/>
              <a:gd name="connsiteY3" fmla="*/ 234123 h 234123"/>
              <a:gd name="connsiteX4" fmla="*/ 57150 w 1004680"/>
              <a:gd name="connsiteY4" fmla="*/ 0 h 234123"/>
              <a:gd name="connsiteX0" fmla="*/ 57150 w 1004680"/>
              <a:gd name="connsiteY0" fmla="*/ 3810 h 237933"/>
              <a:gd name="connsiteX1" fmla="*/ 958960 w 1004680"/>
              <a:gd name="connsiteY1" fmla="*/ 0 h 237933"/>
              <a:gd name="connsiteX2" fmla="*/ 1004680 w 1004680"/>
              <a:gd name="connsiteY2" fmla="*/ 237933 h 237933"/>
              <a:gd name="connsiteX3" fmla="*/ 0 w 1004680"/>
              <a:gd name="connsiteY3" fmla="*/ 237933 h 237933"/>
              <a:gd name="connsiteX4" fmla="*/ 57150 w 1004680"/>
              <a:gd name="connsiteY4" fmla="*/ 3810 h 23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4680" h="237933">
                <a:moveTo>
                  <a:pt x="57150" y="3810"/>
                </a:moveTo>
                <a:lnTo>
                  <a:pt x="958960" y="0"/>
                </a:lnTo>
                <a:lnTo>
                  <a:pt x="1004680" y="237933"/>
                </a:lnTo>
                <a:lnTo>
                  <a:pt x="0" y="237933"/>
                </a:lnTo>
                <a:lnTo>
                  <a:pt x="57150" y="381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EDC97DA-2F27-787C-7714-3A232CEBD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820" y="4228577"/>
            <a:ext cx="957651" cy="50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4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TRTA Numbers Rounded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37</cp:revision>
  <dcterms:created xsi:type="dcterms:W3CDTF">2025-07-02T02:40:11Z</dcterms:created>
  <dcterms:modified xsi:type="dcterms:W3CDTF">2025-07-03T03:56:42Z</dcterms:modified>
</cp:coreProperties>
</file>